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CF80D-C58D-14F2-43CA-C0D3B4F35AA3}" v="219" dt="2026-05-22T16:14:01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nger, Michel" userId="S::mic.belanger@cgi.com::9f46d9ab-1cf5-4fc6-8ef3-fcac8369d45b" providerId="AD" clId="Web-{047CF80D-C58D-14F2-43CA-C0D3B4F35AA3}"/>
    <pc:docChg chg="addSld modSld">
      <pc:chgData name="Belanger, Michel" userId="S::mic.belanger@cgi.com::9f46d9ab-1cf5-4fc6-8ef3-fcac8369d45b" providerId="AD" clId="Web-{047CF80D-C58D-14F2-43CA-C0D3B4F35AA3}" dt="2026-05-22T16:14:01.041" v="221" actId="20577"/>
      <pc:docMkLst>
        <pc:docMk/>
      </pc:docMkLst>
      <pc:sldChg chg="modSp">
        <pc:chgData name="Belanger, Michel" userId="S::mic.belanger@cgi.com::9f46d9ab-1cf5-4fc6-8ef3-fcac8369d45b" providerId="AD" clId="Web-{047CF80D-C58D-14F2-43CA-C0D3B4F35AA3}" dt="2026-05-22T15:45:41.977" v="7" actId="20577"/>
        <pc:sldMkLst>
          <pc:docMk/>
          <pc:sldMk cId="0" sldId="258"/>
        </pc:sldMkLst>
        <pc:spChg chg="mod">
          <ac:chgData name="Belanger, Michel" userId="S::mic.belanger@cgi.com::9f46d9ab-1cf5-4fc6-8ef3-fcac8369d45b" providerId="AD" clId="Web-{047CF80D-C58D-14F2-43CA-C0D3B4F35AA3}" dt="2026-05-22T15:45:41.977" v="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Belanger, Michel" userId="S::mic.belanger@cgi.com::9f46d9ab-1cf5-4fc6-8ef3-fcac8369d45b" providerId="AD" clId="Web-{047CF80D-C58D-14F2-43CA-C0D3B4F35AA3}" dt="2026-05-22T15:46:08.446" v="11" actId="20577"/>
        <pc:sldMkLst>
          <pc:docMk/>
          <pc:sldMk cId="0" sldId="260"/>
        </pc:sldMkLst>
        <pc:spChg chg="mod">
          <ac:chgData name="Belanger, Michel" userId="S::mic.belanger@cgi.com::9f46d9ab-1cf5-4fc6-8ef3-fcac8369d45b" providerId="AD" clId="Web-{047CF80D-C58D-14F2-43CA-C0D3B4F35AA3}" dt="2026-05-22T15:46:08.446" v="1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Belanger, Michel" userId="S::mic.belanger@cgi.com::9f46d9ab-1cf5-4fc6-8ef3-fcac8369d45b" providerId="AD" clId="Web-{047CF80D-C58D-14F2-43CA-C0D3B4F35AA3}" dt="2026-05-22T15:50:30.620" v="35" actId="20577"/>
        <pc:sldMkLst>
          <pc:docMk/>
          <pc:sldMk cId="0" sldId="265"/>
        </pc:sldMkLst>
        <pc:spChg chg="mod">
          <ac:chgData name="Belanger, Michel" userId="S::mic.belanger@cgi.com::9f46d9ab-1cf5-4fc6-8ef3-fcac8369d45b" providerId="AD" clId="Web-{047CF80D-C58D-14F2-43CA-C0D3B4F35AA3}" dt="2026-05-22T15:50:30.620" v="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Belanger, Michel" userId="S::mic.belanger@cgi.com::9f46d9ab-1cf5-4fc6-8ef3-fcac8369d45b" providerId="AD" clId="Web-{047CF80D-C58D-14F2-43CA-C0D3B4F35AA3}" dt="2026-05-22T15:54:50.498" v="113" actId="20577"/>
        <pc:sldMkLst>
          <pc:docMk/>
          <pc:sldMk cId="0" sldId="266"/>
        </pc:sldMkLst>
        <pc:spChg chg="mod">
          <ac:chgData name="Belanger, Michel" userId="S::mic.belanger@cgi.com::9f46d9ab-1cf5-4fc6-8ef3-fcac8369d45b" providerId="AD" clId="Web-{047CF80D-C58D-14F2-43CA-C0D3B4F35AA3}" dt="2026-05-22T15:54:50.498" v="113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Belanger, Michel" userId="S::mic.belanger@cgi.com::9f46d9ab-1cf5-4fc6-8ef3-fcac8369d45b" providerId="AD" clId="Web-{047CF80D-C58D-14F2-43CA-C0D3B4F35AA3}" dt="2026-05-22T15:57:35.781" v="195" actId="20577"/>
        <pc:sldMkLst>
          <pc:docMk/>
          <pc:sldMk cId="0" sldId="267"/>
        </pc:sldMkLst>
        <pc:spChg chg="mod">
          <ac:chgData name="Belanger, Michel" userId="S::mic.belanger@cgi.com::9f46d9ab-1cf5-4fc6-8ef3-fcac8369d45b" providerId="AD" clId="Web-{047CF80D-C58D-14F2-43CA-C0D3B4F35AA3}" dt="2026-05-22T15:57:35.781" v="195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new">
        <pc:chgData name="Belanger, Michel" userId="S::mic.belanger@cgi.com::9f46d9ab-1cf5-4fc6-8ef3-fcac8369d45b" providerId="AD" clId="Web-{047CF80D-C58D-14F2-43CA-C0D3B4F35AA3}" dt="2026-05-22T16:14:01.041" v="221" actId="20577"/>
        <pc:sldMkLst>
          <pc:docMk/>
          <pc:sldMk cId="251647969" sldId="273"/>
        </pc:sldMkLst>
        <pc:spChg chg="mod">
          <ac:chgData name="Belanger, Michel" userId="S::mic.belanger@cgi.com::9f46d9ab-1cf5-4fc6-8ef3-fcac8369d45b" providerId="AD" clId="Web-{047CF80D-C58D-14F2-43CA-C0D3B4F35AA3}" dt="2026-05-22T16:12:44.790" v="204" actId="20577"/>
          <ac:spMkLst>
            <pc:docMk/>
            <pc:sldMk cId="251647969" sldId="273"/>
            <ac:spMk id="2" creationId="{8A015883-8901-878D-0046-9807E9413321}"/>
          </ac:spMkLst>
        </pc:spChg>
        <pc:spChg chg="mod">
          <ac:chgData name="Belanger, Michel" userId="S::mic.belanger@cgi.com::9f46d9ab-1cf5-4fc6-8ef3-fcac8369d45b" providerId="AD" clId="Web-{047CF80D-C58D-14F2-43CA-C0D3B4F35AA3}" dt="2026-05-22T16:14:01.041" v="221" actId="20577"/>
          <ac:spMkLst>
            <pc:docMk/>
            <pc:sldMk cId="251647969" sldId="273"/>
            <ac:spMk id="3" creationId="{B45ADC0F-089C-580D-73E4-33A53515C13E}"/>
          </ac:spMkLst>
        </pc:spChg>
      </pc:sldChg>
      <pc:sldChg chg="add">
        <pc:chgData name="Belanger, Michel" userId="S::mic.belanger@cgi.com::9f46d9ab-1cf5-4fc6-8ef3-fcac8369d45b" providerId="AD" clId="Web-{047CF80D-C58D-14F2-43CA-C0D3B4F35AA3}" dt="2026-05-22T16:13:13.446" v="205"/>
        <pc:sldMkLst>
          <pc:docMk/>
          <pc:sldMk cId="4260178314" sldId="274"/>
        </pc:sldMkLst>
      </pc:sldChg>
      <pc:sldChg chg="add">
        <pc:chgData name="Belanger, Michel" userId="S::mic.belanger@cgi.com::9f46d9ab-1cf5-4fc6-8ef3-fcac8369d45b" providerId="AD" clId="Web-{047CF80D-C58D-14F2-43CA-C0D3B4F35AA3}" dt="2026-05-22T16:13:13.462" v="206"/>
        <pc:sldMkLst>
          <pc:docMk/>
          <pc:sldMk cId="1057719122" sldId="275"/>
        </pc:sldMkLst>
      </pc:sldChg>
      <pc:sldChg chg="add">
        <pc:chgData name="Belanger, Michel" userId="S::mic.belanger@cgi.com::9f46d9ab-1cf5-4fc6-8ef3-fcac8369d45b" providerId="AD" clId="Web-{047CF80D-C58D-14F2-43CA-C0D3B4F35AA3}" dt="2026-05-22T16:13:13.478" v="207"/>
        <pc:sldMkLst>
          <pc:docMk/>
          <pc:sldMk cId="2054371732" sldId="276"/>
        </pc:sldMkLst>
      </pc:sldChg>
      <pc:sldChg chg="add">
        <pc:chgData name="Belanger, Michel" userId="S::mic.belanger@cgi.com::9f46d9ab-1cf5-4fc6-8ef3-fcac8369d45b" providerId="AD" clId="Web-{047CF80D-C58D-14F2-43CA-C0D3B4F35AA3}" dt="2026-05-22T16:13:13.493" v="208"/>
        <pc:sldMkLst>
          <pc:docMk/>
          <pc:sldMk cId="614479141" sldId="277"/>
        </pc:sldMkLst>
      </pc:sldChg>
      <pc:sldChg chg="add">
        <pc:chgData name="Belanger, Michel" userId="S::mic.belanger@cgi.com::9f46d9ab-1cf5-4fc6-8ef3-fcac8369d45b" providerId="AD" clId="Web-{047CF80D-C58D-14F2-43CA-C0D3B4F35AA3}" dt="2026-05-22T16:13:13.509" v="209"/>
        <pc:sldMkLst>
          <pc:docMk/>
          <pc:sldMk cId="1549127015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ToTAL SAFe – Atelier 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Réalité produit, opérations et validation de la valeur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 observe la réalité produit</a:t>
            </a:r>
          </a:p>
          <a:p>
            <a:r>
              <a:t>Expose la vraie valeur</a:t>
            </a:r>
          </a:p>
          <a:p>
            <a:r>
              <a:t>Révèle les écarts entre attendu et réel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Métaphore ToTAL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 err="1"/>
              <a:t>SENSe</a:t>
            </a:r>
            <a:r>
              <a:rPr dirty="0"/>
              <a:t> = </a:t>
            </a:r>
            <a:r>
              <a:rPr dirty="0" err="1"/>
              <a:t>Raffinerie</a:t>
            </a:r>
            <a:r>
              <a:rPr lang="en-US" dirty="0"/>
              <a:t> (</a:t>
            </a:r>
            <a:r>
              <a:rPr lang="en-US" dirty="0" err="1"/>
              <a:t>DoR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r>
              <a:rPr dirty="0" err="1"/>
              <a:t>FORGe</a:t>
            </a:r>
            <a:r>
              <a:rPr dirty="0"/>
              <a:t> = Train (</a:t>
            </a:r>
            <a:r>
              <a:rPr dirty="0" err="1"/>
              <a:t>JiT</a:t>
            </a:r>
            <a:r>
              <a:rPr dirty="0"/>
              <a:t>)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CARe</a:t>
            </a:r>
            <a:r>
              <a:rPr dirty="0"/>
              <a:t> = GROUND</a:t>
            </a:r>
            <a:r>
              <a:rPr lang="en-US" dirty="0"/>
              <a:t> (DoD)</a:t>
            </a:r>
            <a:endParaRPr dirty="0"/>
          </a:p>
          <a:p>
            <a:r>
              <a:rPr dirty="0"/>
              <a:t>La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dans la </a:t>
            </a:r>
            <a:r>
              <a:rPr dirty="0" err="1"/>
              <a:t>réalité</a:t>
            </a:r>
            <a:endParaRPr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FORGe → CARe → SENSe</a:t>
            </a:r>
          </a:p>
          <a:p>
            <a:r>
              <a:t>FORGe prépare (simulation)</a:t>
            </a:r>
          </a:p>
          <a:p>
            <a:r>
              <a:t>CARe expose (réel)</a:t>
            </a:r>
          </a:p>
          <a:p>
            <a:r>
              <a:t>SENSe comprend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Flot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Diffuser</a:t>
            </a:r>
          </a:p>
          <a:p>
            <a:r>
              <a:rPr dirty="0" err="1"/>
              <a:t>Exécuter</a:t>
            </a:r>
          </a:p>
          <a:p>
            <a:r>
              <a:rPr dirty="0" err="1"/>
              <a:t>Veiller</a:t>
            </a:r>
          </a:p>
          <a:p>
            <a:r>
              <a:rPr dirty="0" err="1"/>
              <a:t>Mesurer</a:t>
            </a:r>
          </a:p>
          <a:p>
            <a:r>
              <a:rPr lang="en-US"/>
              <a:t>Signaler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Activités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Déploiement / publication</a:t>
            </a:r>
          </a:p>
          <a:p>
            <a:r>
              <a:t>Monitoring / observabilité</a:t>
            </a:r>
          </a:p>
          <a:p>
            <a:r>
              <a:t>Alertes / watchdogs</a:t>
            </a:r>
          </a:p>
          <a:p>
            <a:r>
              <a:t>Support / assistance</a:t>
            </a:r>
          </a:p>
          <a:p>
            <a:r>
              <a:t>Tests synthétiques / A/B</a:t>
            </a:r>
          </a:p>
          <a:p>
            <a:r>
              <a:t>Collecte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Objets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Signal</a:t>
            </a:r>
          </a:p>
          <a:p>
            <a:r>
              <a:t>Incident</a:t>
            </a:r>
          </a:p>
          <a:p>
            <a:r>
              <a:t>Métrique</a:t>
            </a:r>
          </a:p>
          <a:p>
            <a:r>
              <a:t>Logs / traces</a:t>
            </a:r>
          </a:p>
          <a:p>
            <a:r>
              <a:t>Usage réel</a:t>
            </a:r>
          </a:p>
          <a:p>
            <a:r>
              <a:t>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Qualimétrie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Données du réel</a:t>
            </a:r>
          </a:p>
          <a:p>
            <a:r>
              <a:t>Dépôt des signaux</a:t>
            </a:r>
          </a:p>
          <a:p>
            <a:r>
              <a:t>Source pour SENSe</a:t>
            </a:r>
          </a:p>
          <a:p>
            <a:r>
              <a:t>Mémoire du réel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Specs dans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Référence comportement attendu</a:t>
            </a:r>
          </a:p>
          <a:p>
            <a:r>
              <a:t>Comparaison réel vs modèle</a:t>
            </a:r>
          </a:p>
          <a:p>
            <a:r>
              <a:t>Détection d’écarts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EPIC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 err="1"/>
              <a:t>SENSe</a:t>
            </a:r>
            <a:r>
              <a:rPr dirty="0"/>
              <a:t> → </a:t>
            </a:r>
            <a:r>
              <a:rPr dirty="0" err="1"/>
              <a:t>défini</a:t>
            </a:r>
            <a:endParaRPr lang="en-US" dirty="0" err="1">
              <a:ea typeface="Calibri"/>
              <a:cs typeface="Calibri"/>
            </a:endParaRPr>
          </a:p>
          <a:p>
            <a:r>
              <a:rPr dirty="0" err="1"/>
              <a:t>FORGe</a:t>
            </a:r>
            <a:r>
              <a:rPr dirty="0"/>
              <a:t> → </a:t>
            </a:r>
            <a:r>
              <a:rPr dirty="0" err="1"/>
              <a:t>construit</a:t>
            </a:r>
            <a:r>
              <a:rPr dirty="0"/>
              <a:t> (simulation)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CARe</a:t>
            </a:r>
            <a:r>
              <a:rPr dirty="0"/>
              <a:t> → </a:t>
            </a:r>
            <a:r>
              <a:rPr dirty="0" err="1"/>
              <a:t>utilisé</a:t>
            </a:r>
            <a:r>
              <a:rPr dirty="0"/>
              <a:t> et </a:t>
            </a:r>
            <a:r>
              <a:rPr dirty="0" err="1"/>
              <a:t>observé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Un EPIC vit dans la </a:t>
            </a:r>
            <a:r>
              <a:rPr dirty="0" err="1"/>
              <a:t>réalité</a:t>
            </a:r>
            <a:endParaRPr dirty="0" err="1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Elle </a:t>
            </a:r>
            <a:r>
              <a:rPr lang="en-US" dirty="0" err="1">
                <a:ea typeface="Calibri"/>
                <a:cs typeface="Calibri"/>
              </a:rPr>
              <a:t>meure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quand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elle</a:t>
            </a:r>
            <a:r>
              <a:rPr lang="en-US" dirty="0">
                <a:ea typeface="Calibri"/>
                <a:cs typeface="Calibri"/>
              </a:rPr>
              <a:t> est </a:t>
            </a:r>
            <a:r>
              <a:rPr lang="en-US" dirty="0" err="1">
                <a:ea typeface="Calibri"/>
                <a:cs typeface="Calibri"/>
              </a:rPr>
              <a:t>terminée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quand</a:t>
            </a:r>
            <a:r>
              <a:rPr lang="en-US" dirty="0">
                <a:ea typeface="Calibri"/>
                <a:cs typeface="Calibri"/>
              </a:rPr>
              <a:t> 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DoR / DoD contextuels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SENSe</a:t>
            </a:r>
            <a:r>
              <a:rPr lang="en-US" dirty="0"/>
              <a:t> → </a:t>
            </a:r>
            <a:r>
              <a:rPr lang="en-US" dirty="0" err="1"/>
              <a:t>DoR</a:t>
            </a:r>
            <a:endParaRPr lang="en-US" dirty="0" err="1">
              <a:ea typeface="Calibri"/>
              <a:cs typeface="Calibri"/>
            </a:endParaRPr>
          </a:p>
          <a:p>
            <a:r>
              <a:rPr lang="en-US" dirty="0" err="1"/>
              <a:t>FORGe</a:t>
            </a:r>
            <a:r>
              <a:rPr lang="en-US" dirty="0"/>
              <a:t> → </a:t>
            </a:r>
            <a:r>
              <a:rPr lang="en-US" dirty="0" err="1"/>
              <a:t>JiT</a:t>
            </a:r>
            <a:endParaRPr lang="en-US" dirty="0" err="1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CARe</a:t>
            </a:r>
            <a:r>
              <a:rPr lang="en-US" dirty="0">
                <a:ea typeface="Calibri"/>
                <a:cs typeface="Calibri"/>
              </a:rPr>
              <a:t> → DoD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Ceci est pour la vie </a:t>
            </a:r>
            <a:r>
              <a:rPr lang="en-US" dirty="0" err="1">
                <a:ea typeface="Calibri"/>
                <a:cs typeface="Calibri"/>
              </a:rPr>
              <a:t>d'une</a:t>
            </a:r>
            <a:r>
              <a:rPr lang="en-US" dirty="0">
                <a:ea typeface="Calibri"/>
                <a:cs typeface="Calibri"/>
              </a:rPr>
              <a:t> EPIC qui </a:t>
            </a:r>
            <a:r>
              <a:rPr lang="en-US" dirty="0" err="1">
                <a:ea typeface="Calibri"/>
                <a:cs typeface="Calibri"/>
              </a:rPr>
              <a:t>différent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DoR</a:t>
            </a:r>
            <a:r>
              <a:rPr lang="en-US" dirty="0">
                <a:ea typeface="Calibri"/>
                <a:cs typeface="Calibri"/>
              </a:rPr>
              <a:t> et DoD </a:t>
            </a:r>
            <a:r>
              <a:rPr lang="en-US" dirty="0" err="1">
                <a:ea typeface="Calibri"/>
                <a:cs typeface="Calibri"/>
              </a:rPr>
              <a:t>d'une</a:t>
            </a:r>
            <a:r>
              <a:rPr lang="en-US" dirty="0">
                <a:ea typeface="Calibri"/>
                <a:cs typeface="Calibri"/>
              </a:rPr>
              <a:t> story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des specs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RED → Defined (</a:t>
            </a:r>
            <a:r>
              <a:rPr dirty="0" err="1"/>
              <a:t>SENSe</a:t>
            </a:r>
            <a:r>
              <a:rPr lang="en-US" dirty="0"/>
              <a:t>), </a:t>
            </a:r>
            <a:r>
              <a:rPr lang="en-US" dirty="0" err="1"/>
              <a:t>ce</a:t>
            </a:r>
            <a:r>
              <a:rPr lang="en-US" dirty="0"/>
              <a:t> qui </a:t>
            </a:r>
            <a:r>
              <a:rPr lang="en-US" dirty="0" err="1"/>
              <a:t>valide</a:t>
            </a:r>
            <a:r>
              <a:rPr lang="en-US" dirty="0"/>
              <a:t> le </a:t>
            </a:r>
            <a:r>
              <a:rPr lang="en-US" dirty="0" err="1"/>
              <a:t>modèle</a:t>
            </a:r>
            <a:endParaRPr dirty="0" err="1"/>
          </a:p>
          <a:p>
            <a:r>
              <a:rPr dirty="0"/>
              <a:t>BLUE → Built (</a:t>
            </a:r>
            <a:r>
              <a:rPr dirty="0" err="1"/>
              <a:t>FORGe</a:t>
            </a:r>
            <a:r>
              <a:rPr lang="en-US" dirty="0"/>
              <a:t>), </a:t>
            </a:r>
            <a:r>
              <a:rPr lang="en-US" dirty="0" err="1"/>
              <a:t>ce</a:t>
            </a:r>
            <a:r>
              <a:rPr lang="en-US" dirty="0"/>
              <a:t> qui </a:t>
            </a:r>
            <a:r>
              <a:rPr lang="en-US" dirty="0" err="1"/>
              <a:t>valide</a:t>
            </a:r>
            <a:r>
              <a:rPr lang="en-US" dirty="0"/>
              <a:t> la simulation prod</a:t>
            </a:r>
            <a:endParaRPr dirty="0"/>
          </a:p>
          <a:p>
            <a:r>
              <a:rPr dirty="0"/>
              <a:t>GREEN → Proven (</a:t>
            </a:r>
            <a:r>
              <a:rPr dirty="0" err="1"/>
              <a:t>CARe</a:t>
            </a:r>
            <a:r>
              <a:rPr lang="en-US" dirty="0"/>
              <a:t>), </a:t>
            </a:r>
            <a:r>
              <a:rPr lang="en-US" dirty="0" err="1"/>
              <a:t>ce</a:t>
            </a:r>
            <a:r>
              <a:rPr lang="en-US" dirty="0"/>
              <a:t> qui </a:t>
            </a:r>
            <a:r>
              <a:rPr lang="en-US" dirty="0" err="1"/>
              <a:t>valide</a:t>
            </a:r>
            <a:r>
              <a:rPr lang="en-US" dirty="0"/>
              <a:t> le </a:t>
            </a:r>
            <a:r>
              <a:rPr lang="en-US" dirty="0" err="1"/>
              <a:t>réel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ea typeface="Calibri"/>
                <a:cs typeface="Calibri"/>
              </a:rPr>
              <a:t>ici</a:t>
            </a:r>
            <a:r>
              <a:rPr lang="en-US" dirty="0">
                <a:ea typeface="Calibri"/>
                <a:cs typeface="Calibri"/>
              </a:rPr>
              <a:t> on ne parle pas de pass/fail </a:t>
            </a:r>
            <a:r>
              <a:rPr lang="en-US" dirty="0" err="1">
                <a:ea typeface="Calibri"/>
                <a:cs typeface="Calibri"/>
              </a:rPr>
              <a:t>directement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mais</a:t>
            </a:r>
            <a:r>
              <a:rPr lang="en-US" dirty="0">
                <a:ea typeface="Calibri"/>
                <a:cs typeface="Calibri"/>
              </a:rPr>
              <a:t> d'état des </a:t>
            </a:r>
            <a:r>
              <a:rPr lang="en-US" dirty="0" err="1">
                <a:ea typeface="Calibri"/>
                <a:cs typeface="Calibri"/>
              </a:rPr>
              <a:t>spécification</a:t>
            </a:r>
            <a:r>
              <a:rPr lang="en-US" dirty="0">
                <a:ea typeface="Calibri"/>
                <a:cs typeface="Calibri"/>
              </a:rPr>
              <a:t> (TDD)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 Qualité (QA)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 métriques</a:t>
            </a:r>
          </a:p>
          <a:p>
            <a:r>
              <a:t>Garantit observabilité</a:t>
            </a:r>
          </a:p>
          <a:p>
            <a:r>
              <a:t>Mesure réel</a:t>
            </a:r>
          </a:p>
          <a:p>
            <a:r>
              <a:t>Compare attendu vs réel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OPS/DevOps → déploie et surveille</a:t>
            </a:r>
          </a:p>
          <a:p>
            <a:r>
              <a:t>QA → structure la qualité</a:t>
            </a:r>
          </a:p>
          <a:p>
            <a:r>
              <a:t>Produit → interprète (via SENSe)</a:t>
            </a:r>
          </a:p>
          <a:p>
            <a:r>
              <a:t>Support → capte feedback utilisateur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Pilote par données réelles</a:t>
            </a:r>
          </a:p>
          <a:p>
            <a:r>
              <a:t>Arbitre par valeur réelle</a:t>
            </a:r>
          </a:p>
          <a:p>
            <a:r>
              <a:t>Décision basée sur usage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&amp; Automatisation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 automatique</a:t>
            </a:r>
          </a:p>
          <a:p>
            <a:r>
              <a:t>Détection anomalies</a:t>
            </a:r>
          </a:p>
          <a:p>
            <a:r>
              <a:t>Analyse comportement</a:t>
            </a:r>
          </a:p>
          <a:p>
            <a:r>
              <a:t>Alimente IA produit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5883-8901-878D-0046-9807E941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ct val="20000"/>
              </a:spcBef>
            </a:pPr>
            <a:r>
              <a:rPr lang="en-US" sz="3200" dirty="0" err="1">
                <a:ea typeface="Calibri"/>
                <a:cs typeface="Calibri"/>
              </a:rPr>
              <a:t>Exercice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ADC0F-089C-580D-73E4-33A53515C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Calibri"/>
                <a:cs typeface="Calibri"/>
              </a:rPr>
              <a:t>À </a:t>
            </a:r>
            <a:r>
              <a:rPr lang="en-US" dirty="0" err="1">
                <a:ea typeface="Calibri"/>
                <a:cs typeface="Calibri"/>
              </a:rPr>
              <a:t>partir</a:t>
            </a:r>
            <a:r>
              <a:rPr lang="en-US" dirty="0">
                <a:ea typeface="Calibri"/>
                <a:cs typeface="Calibri"/>
              </a:rPr>
              <a:t> d’un </a:t>
            </a:r>
            <a:r>
              <a:rPr lang="en-US" dirty="0" err="1">
                <a:ea typeface="Calibri"/>
                <a:cs typeface="Calibri"/>
              </a:rPr>
              <a:t>scénario</a:t>
            </a:r>
            <a:r>
              <a:rPr lang="en-US" dirty="0">
                <a:ea typeface="Calibri"/>
                <a:cs typeface="Calibri"/>
              </a:rPr>
              <a:t> :</a:t>
            </a:r>
          </a:p>
          <a:p>
            <a:r>
              <a:rPr lang="en-US" dirty="0" err="1">
                <a:ea typeface="Calibri"/>
                <a:cs typeface="Calibri"/>
              </a:rPr>
              <a:t>Simuler</a:t>
            </a:r>
            <a:r>
              <a:rPr lang="en-US" dirty="0">
                <a:ea typeface="Calibri"/>
                <a:cs typeface="Calibri"/>
              </a:rPr>
              <a:t> le passage dans le </a:t>
            </a:r>
            <a:r>
              <a:rPr lang="en-US" dirty="0" err="1">
                <a:ea typeface="Calibri"/>
                <a:cs typeface="Calibri"/>
              </a:rPr>
              <a:t>flot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CARe</a:t>
            </a:r>
            <a:endParaRPr lang="en-US" dirty="0" err="1"/>
          </a:p>
          <a:p>
            <a:r>
              <a:rPr lang="en-US" dirty="0">
                <a:ea typeface="Calibri"/>
                <a:cs typeface="Calibri"/>
              </a:rPr>
              <a:t>Identifier les points </a:t>
            </a:r>
            <a:r>
              <a:rPr lang="en-US" dirty="0" err="1">
                <a:ea typeface="Calibri"/>
                <a:cs typeface="Calibri"/>
              </a:rPr>
              <a:t>d’observation</a:t>
            </a:r>
            <a:endParaRPr lang="en-US" dirty="0" err="1"/>
          </a:p>
          <a:p>
            <a:r>
              <a:rPr lang="en-US" dirty="0" err="1">
                <a:ea typeface="Calibri"/>
                <a:cs typeface="Calibri"/>
              </a:rPr>
              <a:t>Définir</a:t>
            </a:r>
            <a:r>
              <a:rPr lang="en-US" dirty="0">
                <a:ea typeface="Calibri"/>
                <a:cs typeface="Calibri"/>
              </a:rPr>
              <a:t> les </a:t>
            </a:r>
            <a:r>
              <a:rPr lang="en-US" dirty="0" err="1">
                <a:ea typeface="Calibri"/>
                <a:cs typeface="Calibri"/>
              </a:rPr>
              <a:t>mécanismes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mesure</a:t>
            </a:r>
            <a:endParaRPr lang="en-US" dirty="0" err="1"/>
          </a:p>
          <a:p>
            <a:r>
              <a:rPr lang="en-US" dirty="0" err="1">
                <a:ea typeface="Calibri"/>
                <a:cs typeface="Calibri"/>
              </a:rPr>
              <a:t>Produire</a:t>
            </a:r>
            <a:r>
              <a:rPr lang="en-US" dirty="0">
                <a:ea typeface="Calibri"/>
                <a:cs typeface="Calibri"/>
              </a:rPr>
              <a:t> les </a:t>
            </a:r>
            <a:r>
              <a:rPr lang="en-US" dirty="0" err="1">
                <a:ea typeface="Calibri"/>
                <a:cs typeface="Calibri"/>
              </a:rPr>
              <a:t>signaux</a:t>
            </a:r>
            <a:endParaRPr lang="en-US" dirty="0" err="1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0"/>
              </a:spcBef>
              <a:buNone/>
            </a:pPr>
            <a:r>
              <a:rPr lang="en-US">
                <a:ea typeface="Calibri"/>
                <a:cs typeface="Calibri"/>
              </a:rPr>
              <a:t>👉 Pour chaque groupe :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Quel est l’événement réel ?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Qu’est-ce qui est observable ?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Comment détecter l’événement ?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Quelle donnée capturer ?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Quel signal remonter ?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647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Scénarios CARe – du déploiement au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Réception EPIC (FORGe - BLUE)</a:t>
            </a:r>
          </a:p>
          <a:p>
            <a:r>
              <a:t>Diffuser → rendre disponible</a:t>
            </a:r>
          </a:p>
          <a:p>
            <a:r>
              <a:t>Exécuter → usage réel</a:t>
            </a:r>
          </a:p>
          <a:p>
            <a:r>
              <a:t>Veiller → monitoring / support</a:t>
            </a:r>
          </a:p>
          <a:p>
            <a:r>
              <a:t>Mesurer → qualimétrie</a:t>
            </a:r>
          </a:p>
          <a:p>
            <a:r>
              <a:t>→ Signal pour SENSe</a:t>
            </a:r>
          </a:p>
        </p:txBody>
      </p:sp>
    </p:spTree>
    <p:extLst>
      <p:ext uri="{BB962C8B-B14F-4D97-AF65-F5344CB8AC3E}">
        <p14:creationId xmlns:p14="http://schemas.microsoft.com/office/powerpoint/2010/main" val="4260178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– Incident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FORGe → EPIC validé en simulation (BLUE)</a:t>
            </a:r>
          </a:p>
          <a:p>
            <a:r>
              <a:t>Diffusion → mise en production</a:t>
            </a:r>
          </a:p>
          <a:p>
            <a:r>
              <a:t>Exécution → erreur réelle</a:t>
            </a:r>
          </a:p>
          <a:p>
            <a:r>
              <a:t>Veille → alerte / support détecte</a:t>
            </a:r>
          </a:p>
          <a:p>
            <a:r>
              <a:t>Mesure → logs / métriques capturés</a:t>
            </a:r>
          </a:p>
          <a:p>
            <a:r>
              <a:t>Résultat → signal INCIDENT</a:t>
            </a:r>
          </a:p>
        </p:txBody>
      </p:sp>
    </p:spTree>
    <p:extLst>
      <p:ext uri="{BB962C8B-B14F-4D97-AF65-F5344CB8AC3E}">
        <p14:creationId xmlns:p14="http://schemas.microsoft.com/office/powerpoint/2010/main" val="1057719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–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FORGe → EPIC livré (BLUE)</a:t>
            </a:r>
          </a:p>
          <a:p>
            <a:r>
              <a:t>Diffusion → feature disponible</a:t>
            </a:r>
          </a:p>
          <a:p>
            <a:r>
              <a:t>Exécution → usage utilisateur réel</a:t>
            </a:r>
          </a:p>
          <a:p>
            <a:r>
              <a:t>Veille → observation du comportement</a:t>
            </a:r>
          </a:p>
          <a:p>
            <a:r>
              <a:t>Mesure → analytics / usage</a:t>
            </a:r>
          </a:p>
          <a:p>
            <a:r>
              <a:t>Résultat → signal USAGE</a:t>
            </a:r>
          </a:p>
        </p:txBody>
      </p:sp>
    </p:spTree>
    <p:extLst>
      <p:ext uri="{BB962C8B-B14F-4D97-AF65-F5344CB8AC3E}">
        <p14:creationId xmlns:p14="http://schemas.microsoft.com/office/powerpoint/2010/main" val="2054371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– Faux succès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FORGe → EPIC validé (BLUE)</a:t>
            </a:r>
          </a:p>
          <a:p>
            <a:r>
              <a:t>Diffusion → feature disponible</a:t>
            </a:r>
          </a:p>
          <a:p>
            <a:r>
              <a:t>Exécution → faible adoption</a:t>
            </a:r>
          </a:p>
          <a:p>
            <a:r>
              <a:t>Veille → aucun incident visible</a:t>
            </a:r>
          </a:p>
          <a:p>
            <a:r>
              <a:t>Mesure → métriques faibles</a:t>
            </a:r>
          </a:p>
          <a:p>
            <a:r>
              <a:t>Résultat → signal NON-ADOPTION</a:t>
            </a:r>
          </a:p>
        </p:txBody>
      </p:sp>
    </p:spTree>
    <p:extLst>
      <p:ext uri="{BB962C8B-B14F-4D97-AF65-F5344CB8AC3E}">
        <p14:creationId xmlns:p14="http://schemas.microsoft.com/office/powerpoint/2010/main" val="614479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– Opportunité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FORGe → EPIC livré (BLUE)</a:t>
            </a:r>
          </a:p>
          <a:p>
            <a:r>
              <a:t>Diffusion → feature disponible</a:t>
            </a:r>
          </a:p>
          <a:p>
            <a:r>
              <a:t>Exécution → usage inattendu</a:t>
            </a:r>
          </a:p>
          <a:p>
            <a:r>
              <a:t>Veille → observation patterns</a:t>
            </a:r>
          </a:p>
          <a:p>
            <a:r>
              <a:t>Mesure → augmentation usage</a:t>
            </a:r>
          </a:p>
          <a:p>
            <a:r>
              <a:t>Résultat → signal OPPORTUNITÉ</a:t>
            </a:r>
          </a:p>
        </p:txBody>
      </p:sp>
    </p:spTree>
    <p:extLst>
      <p:ext uri="{BB962C8B-B14F-4D97-AF65-F5344CB8AC3E}">
        <p14:creationId xmlns:p14="http://schemas.microsoft.com/office/powerpoint/2010/main" val="1549127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 expose la réalité produit</a:t>
            </a:r>
          </a:p>
          <a:p>
            <a:r>
              <a:t>Sans CARe → hypothèses</a:t>
            </a:r>
          </a:p>
          <a:p>
            <a:r>
              <a:t>La valeur n’existe que dans le réel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9290083-bd2f-48a2-8ac5-09a524b17d15}" enabled="1" method="Standard" siteId="{b9fec68c-c92d-461e-9a97-3d03a0f18b8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ToTAL SAFe – Atelier CARe</vt:lpstr>
      <vt:lpstr>Vision CARe</vt:lpstr>
      <vt:lpstr>Métaphore ToTAL</vt:lpstr>
      <vt:lpstr>Position</vt:lpstr>
      <vt:lpstr>Flot CARe</vt:lpstr>
      <vt:lpstr>Activités CARe</vt:lpstr>
      <vt:lpstr>Objets CARe</vt:lpstr>
      <vt:lpstr>Qualimétrie</vt:lpstr>
      <vt:lpstr>Specs dans CARe</vt:lpstr>
      <vt:lpstr>Cycle EPIC</vt:lpstr>
      <vt:lpstr>DoR / DoD contextuels</vt:lpstr>
      <vt:lpstr>Cycle des specs</vt:lpstr>
      <vt:lpstr>Rôle Qualité (QA)</vt:lpstr>
      <vt:lpstr>Rôles</vt:lpstr>
      <vt:lpstr>Rôle Direction</vt:lpstr>
      <vt:lpstr>IA &amp; Automatisation</vt:lpstr>
      <vt:lpstr>Exercice</vt:lpstr>
      <vt:lpstr>Scénarios CARe – du déploiement au signal</vt:lpstr>
      <vt:lpstr>Scénario – Incident</vt:lpstr>
      <vt:lpstr>Scénario – Usage</vt:lpstr>
      <vt:lpstr>Scénario – Faux succès</vt:lpstr>
      <vt:lpstr>Scénario – Opportunité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72</cp:revision>
  <dcterms:created xsi:type="dcterms:W3CDTF">2013-01-27T09:14:16Z</dcterms:created>
  <dcterms:modified xsi:type="dcterms:W3CDTF">2026-05-22T16:14:07Z</dcterms:modified>
  <cp:category/>
</cp:coreProperties>
</file>